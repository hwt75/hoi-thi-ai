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Mở bằng vấn đề, không mở bằng 'kính thưa' dài. Nêu 2 con số rồi mục tiêu.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Nói rõ 5 tiêu chí có trọng số và rằng điểm được tính bằng Excel; nhắc 'phản biện chéo bằng mô hình thứ hai đã sửa … điểm'.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giây. Mỗi KPI: số → lãnh đạo quyết gì. Không đọc lại biểu đồ.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Nhấn 'tiêu chí đi tiếp' ở mỗi giai đoạn: nếu không đạt thì dừng hoặc rơi về PA1.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giây. Kết bằng demo 20 giây trợ lý công vụ: câu hỏi có dữ liệu cá nhân → trợ lý từ chối. Đó là bằng chứng sống của trục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1. Vấn đề và mục tiêu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[Vấn đề cốt lõi: ai chịu thiệt gì, vì sao — 1 dòng]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[Con số đắt nhất 1: ví dụ 'Thời gian xử lý tăng 4,2 → 6,0 ngày']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[Con số đắt nhất 2: ví dụ 'Tỷ lệ đúng hạn 81%, khiếu nại tăng 2,5 lần']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[Mục tiêu 12 tháng: 2 chỉ số, có số]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Arial"/>
              </a:defRPr>
            </a:pPr>
            <a:r>
              <a:t>[Tên đơn vị] · Hội thi AI – Trợ lý công vụ 2026 · Số liệu [GIẢ ĐỊNH] để minh hoạ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2. Ba phương án và lý do chọn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 PA1 Cải tiến tối thiểu — [điểm]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 PA2 Tái thiết kế quy trình + AI — [điểm]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 PA3 Chuyển đổi toàn diện — [điểm]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[Chọn PA…, vì … · Điều kiện: … · Không thoả → PA…]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280160"/>
            <a:ext cx="4480560" cy="4754880"/>
          </a:xfrm>
          <a:prstGeom prst="rect">
            <a:avLst/>
          </a:prstGeom>
          <a:solidFill>
            <a:srgbClr val="F2F2F2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7F7F7F"/>
                </a:solidFill>
                <a:latin typeface="Arial"/>
              </a:defRPr>
            </a:pPr>
            <a:r>
              <a:t>[Chèn ảnh biểu đồ 'Điểm có trọng số 3 phương án' từ Excel]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Arial"/>
              </a:defRPr>
            </a:pPr>
            <a:r>
              <a:t>[Tên đơn vị] · Hội thi AI – Trợ lý công vụ 2026 · Số liệu [GIẢ ĐỊNH] để minh hoạ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3. Dashboard: 3 chỉ số then chốt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[KPI 1: hiện trạng → mục tiêu · ý nghĩa quản trị 1 câu]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[KPI 2: …]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[KPI 3: …]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[Thông điệp: lãnh đạo cần quyết định gì từ dashboard]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280160"/>
            <a:ext cx="4480560" cy="4754880"/>
          </a:xfrm>
          <a:prstGeom prst="rect">
            <a:avLst/>
          </a:prstGeom>
          <a:solidFill>
            <a:srgbClr val="F2F2F2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7F7F7F"/>
                </a:solidFill>
                <a:latin typeface="Arial"/>
              </a:defRPr>
            </a:pPr>
            <a:r>
              <a:t>[Chèn ảnh Dashboard từ Excel]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Arial"/>
              </a:defRPr>
            </a:pPr>
            <a:r>
              <a:t>[Tên đơn vị] · Hội thi AI – Trợ lý công vụ 2026 · Số liệu [GIẢ ĐỊNH] để minh hoạ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4. Lộ trình, nguồn lực, rủi 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 Thí điểm 3 tháng → Mở rộng 6 tháng → Vận hành chính thức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[Nguồn lực: … người · … triệu đồng · hạ tầng …]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[Rủi ro 1: dữ liệu cá nhân → biện pháp]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[Rủi ro 2: AI sai/bịa → kiểm chứng trước khi dùng]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[Rủi ro 3: phụ thuộc nhà cung cấp → …]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Arial"/>
              </a:defRPr>
            </a:pPr>
            <a:r>
              <a:t>[Tên đơn vị] · Hội thi AI – Trợ lý công vụ 2026 · Số liệu [GIẢ ĐỊNH] để minh hoạ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5. AI an toàn — và cách tôi đã dùng AI trong bài này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 Phân quyền dữ liệu: bảng M1–M4, cấm M3–M4 lên AI công cộng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 Kiểm soát đầu ra: AI đề xuất, người quyết định và ký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 Lưu vết: nhật ký sử dụng AI đính kèm (Phụ lục 4)</a:t>
            </a:r>
          </a:p>
          <a:p>
            <a:pPr>
              <a:spcAft>
                <a:spcPts val="1400"/>
              </a:spcAft>
              <a:defRPr sz="2400">
                <a:latin typeface="Arial"/>
              </a:defRPr>
            </a:pPr>
            <a:r>
              <a:t>•  Đào tạo: khoá 4 giờ trước khi cấp tài khoản</a:t>
            </a:r>
          </a:p>
          <a:p>
            <a:pPr>
              <a:spcAft>
                <a:spcPts val="1400"/>
              </a:spcAft>
              <a:defRPr sz="2400" i="1">
                <a:solidFill>
                  <a:srgbClr val="7F7F7F"/>
                </a:solidFill>
                <a:latin typeface="Arial"/>
              </a:defRPr>
            </a:pPr>
            <a:r>
              <a:t>•  [Bài này: … lần phản biện chéo · … căn cứ tra tay · … văn bản đã loại]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280160"/>
            <a:ext cx="4480560" cy="4754880"/>
          </a:xfrm>
          <a:prstGeom prst="rect">
            <a:avLst/>
          </a:prstGeom>
          <a:solidFill>
            <a:srgbClr val="F2F2F2"/>
          </a:solidFill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7F7F7F"/>
                </a:solidFill>
                <a:latin typeface="Arial"/>
              </a:defRPr>
            </a:pPr>
            <a:r>
              <a:t>[Chèn ảnh Trợ lý công vụ từ chối dữ liệu cá nhân + bảng /nhatky]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Arial"/>
              </a:defRPr>
            </a:pPr>
            <a:r>
              <a:t>[Tên đơn vị] · Hội thi AI – Trợ lý công vụ 2026 · Số liệu [GIẢ ĐỊNH] để minh hoạ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